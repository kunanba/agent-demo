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6"/>
  </p:notesMasterIdLst>
  <p:handoutMasterIdLst>
    <p:handoutMasterId r:id="rId17"/>
  </p:handoutMasterIdLst>
  <p:sldIdLst>
    <p:sldId id="256" r:id="rId5"/>
    <p:sldId id="277" r:id="rId6"/>
    <p:sldId id="261" r:id="rId7"/>
    <p:sldId id="262" r:id="rId8"/>
    <p:sldId id="289" r:id="rId9"/>
    <p:sldId id="264" r:id="rId10"/>
    <p:sldId id="266" r:id="rId11"/>
    <p:sldId id="295" r:id="rId12"/>
    <p:sldId id="296" r:id="rId13"/>
    <p:sldId id="278" r:id="rId14"/>
    <p:sldId id="27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09" autoAdjust="0"/>
  </p:normalViewPr>
  <p:slideViewPr>
    <p:cSldViewPr snapToGrid="0">
      <p:cViewPr varScale="1">
        <p:scale>
          <a:sx n="61" d="100"/>
          <a:sy n="61" d="100"/>
        </p:scale>
        <p:origin x="46" y="15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2/12/2026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2/12/2026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8 Peo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82546"/>
            <a:ext cx="5111750" cy="152558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/>
          <a:lstStyle/>
          <a:p>
            <a:r>
              <a:rPr lang="en-US" dirty="0"/>
              <a:t>Financial Agent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/>
          <a:lstStyle/>
          <a:p>
            <a:r>
              <a:rPr lang="en-US" dirty="0"/>
              <a:t>Angela Kunanbaeva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1020445"/>
            <a:ext cx="4367214" cy="1325563"/>
          </a:xfrm>
        </p:spPr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/>
          <a:p>
            <a:r>
              <a:rPr lang="en-US" dirty="0"/>
              <a:t>Financial analysts spend hours manually reviewing quarterly reports, annual filings, and financial statements to extract key metrics and insights. This is time-consuming, error-prone, and doesn't scale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69DF042-37C5-4E09-AA4C-AA66649C95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9EA23-F34E-486A-B8B2-0C30192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0F1ABC3-7124-1D2D-A429-3A25EDA05CE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>
          <a:xfrm>
            <a:off x="6896099" y="1020445"/>
            <a:ext cx="4367214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solution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ED0BB9B-6530-CEC6-DCBC-2921C1181FC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>
          <a:xfrm>
            <a:off x="6581774" y="2924174"/>
            <a:ext cx="3171825" cy="2519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AI agent that can analyze financial documents, extract data from charts and tables, compute metrics, and answer questions with full source attribution.</a:t>
            </a:r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08C79-A4AC-4B5D-92DF-600737E4D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09419"/>
            <a:ext cx="4082142" cy="585788"/>
          </a:xfrm>
        </p:spPr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79DE4-CAEA-4617-897E-FEC9A2AC2D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8318" y="1481138"/>
            <a:ext cx="2141764" cy="5143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Manual process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FF1291-56EB-4A7B-A198-1D91F9ECC5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4375" y="2557463"/>
            <a:ext cx="2141764" cy="514350"/>
          </a:xfrm>
        </p:spPr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84E21C-7534-4FB5-9709-F7D1A11034F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20800" y="3633788"/>
            <a:ext cx="2141764" cy="514350"/>
          </a:xfrm>
        </p:spPr>
        <p:txBody>
          <a:bodyPr/>
          <a:lstStyle/>
          <a:p>
            <a:r>
              <a:rPr lang="en-US" dirty="0"/>
              <a:t>costs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7EB25CA-DA83-483D-AF83-0001BDF2DE2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01535" y="1594478"/>
            <a:ext cx="5539095" cy="1010842"/>
          </a:xfrm>
        </p:spPr>
        <p:txBody>
          <a:bodyPr/>
          <a:lstStyle/>
          <a:p>
            <a:r>
              <a:rPr lang="en-US" dirty="0"/>
              <a:t>Financial analysts spend hours manually reviewing quarterly reports, annual filings, and financial statements to extract key metrics and insights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46CE8C6-E12D-4A0D-8553-7FFA31941D5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986028" y="2682564"/>
            <a:ext cx="5539095" cy="1010842"/>
          </a:xfrm>
        </p:spPr>
        <p:txBody>
          <a:bodyPr/>
          <a:lstStyle/>
          <a:p>
            <a:r>
              <a:rPr lang="en-US" dirty="0"/>
              <a:t>Time-consuming, error-prone, and doesn't scale.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C7D5285-85DF-4331-A6FA-1AE847CA47A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576937" y="3755394"/>
            <a:ext cx="5539095" cy="1010842"/>
          </a:xfrm>
        </p:spPr>
        <p:txBody>
          <a:bodyPr/>
          <a:lstStyle/>
          <a:p>
            <a:r>
              <a:rPr lang="en-US" dirty="0"/>
              <a:t>Time-consuming and loss of productivity results in thousands of dollars</a:t>
            </a:r>
          </a:p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0BF6865-7FAE-4B56-A995-ADF1582DCC6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7312B71A-5E84-41DE-9754-5F6291F6D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3984D70-BD95-4E1F-9725-902B5D74D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561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2EB3F-4D60-451F-8F45-7D6654D2FC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85900" y="2563123"/>
            <a:ext cx="4031945" cy="3651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TECHNOLOGY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1C80FB-53F9-42EE-B1E6-D0F998EC5D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485664" y="3070348"/>
            <a:ext cx="4031030" cy="1057308"/>
          </a:xfrm>
        </p:spPr>
        <p:txBody>
          <a:bodyPr/>
          <a:lstStyle/>
          <a:p>
            <a:r>
              <a:rPr lang="en-US" dirty="0"/>
              <a:t>An AI agent that can analyze financial documents, extract data from charts and tables, compute metrics, and answer questions with full source attribution.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E7D4C34-22A0-4D54-A07D-E1E9A11463E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73143" y="3070348"/>
            <a:ext cx="4031030" cy="1057308"/>
          </a:xfrm>
        </p:spPr>
        <p:txBody>
          <a:bodyPr/>
          <a:lstStyle/>
          <a:p>
            <a:r>
              <a:rPr lang="en-US" dirty="0"/>
              <a:t>Reduction in time to find relevant information and insights</a:t>
            </a:r>
          </a:p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68F40F8-BF35-45E9-B3DD-5436362D746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72630" y="4319431"/>
            <a:ext cx="4031945" cy="36512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EASY TO USE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F39C97C-2DDC-4706-B96C-B02FAE53A42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73143" y="4826656"/>
            <a:ext cx="4031030" cy="1057308"/>
          </a:xfrm>
        </p:spPr>
        <p:txBody>
          <a:bodyPr/>
          <a:lstStyle/>
          <a:p>
            <a:r>
              <a:rPr lang="en-US" dirty="0"/>
              <a:t>Simple design that gives customers the targeted information they need</a:t>
            </a:r>
          </a:p>
        </p:txBody>
      </p:sp>
      <p:sp>
        <p:nvSpPr>
          <p:cNvPr id="80" name="Date Placeholder 79">
            <a:extLst>
              <a:ext uri="{FF2B5EF4-FFF2-40B4-BE49-F238E27FC236}">
                <a16:creationId xmlns:a16="http://schemas.microsoft.com/office/drawing/2014/main" id="{BC1F9D86-85D8-4FD0-B0D3-47D77872278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81" name="Footer Placeholder 80">
            <a:extLst>
              <a:ext uri="{FF2B5EF4-FFF2-40B4-BE49-F238E27FC236}">
                <a16:creationId xmlns:a16="http://schemas.microsoft.com/office/drawing/2014/main" id="{E94F1D24-E4A1-4B59-B57E-A28453963B88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82" name="Slide Number Placeholder 81">
            <a:extLst>
              <a:ext uri="{FF2B5EF4-FFF2-40B4-BE49-F238E27FC236}">
                <a16:creationId xmlns:a16="http://schemas.microsoft.com/office/drawing/2014/main" id="{CE36A058-BEC2-4BC5-A467-F2EB2A36505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4B512C1-9DCD-5493-C3AC-D6FDA8666C8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COST SAVINGS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2A50CEE-059F-6CB9-8EE9-20800512D685}"/>
              </a:ext>
            </a:extLst>
          </p:cNvPr>
          <p:cNvSpPr txBox="1">
            <a:spLocks/>
          </p:cNvSpPr>
          <p:nvPr/>
        </p:nvSpPr>
        <p:spPr>
          <a:xfrm>
            <a:off x="1484749" y="4234917"/>
            <a:ext cx="4031945" cy="365125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TARGET USERS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AD74E450-BAA6-94C8-88E2-DFCBC1EE5969}"/>
              </a:ext>
            </a:extLst>
          </p:cNvPr>
          <p:cNvSpPr txBox="1">
            <a:spLocks/>
          </p:cNvSpPr>
          <p:nvPr/>
        </p:nvSpPr>
        <p:spPr>
          <a:xfrm>
            <a:off x="1484513" y="4742142"/>
            <a:ext cx="4031030" cy="105730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Financial analysts</a:t>
            </a:r>
          </a:p>
          <a:p>
            <a:r>
              <a:rPr lang="en-US" dirty="0"/>
              <a:t>Investment researchers</a:t>
            </a:r>
          </a:p>
          <a:p>
            <a:r>
              <a:rPr lang="en-US" dirty="0"/>
              <a:t>CFO offices</a:t>
            </a:r>
          </a:p>
          <a:p>
            <a:r>
              <a:rPr lang="en-US" dirty="0"/>
              <a:t>Compliance teams</a:t>
            </a:r>
          </a:p>
        </p:txBody>
      </p:sp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4156405"/>
            <a:ext cx="3139440" cy="1325563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A74D661B-510C-4CF2-BF77-3EAFB649883D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7E44CAC0-3B5A-49F6-A2CB-0BC80D111A87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D1BD041-3428-4D62-934F-F3FF6D36F90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9E2AA90-938D-5269-071F-E9B9E7F6D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961" y="335710"/>
            <a:ext cx="7268589" cy="60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941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075" y="1671639"/>
            <a:ext cx="5111750" cy="1204912"/>
          </a:xfrm>
        </p:spPr>
        <p:txBody>
          <a:bodyPr/>
          <a:lstStyle/>
          <a:p>
            <a:r>
              <a:rPr lang="en-US" dirty="0"/>
              <a:t>PRODUCT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634FE-ADF0-4BC3-A0A9-447EA9DD0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4" y="3203013"/>
            <a:ext cx="9991725" cy="32552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fontAlgn="t"/>
            <a:r>
              <a:rPr lang="en-US" b="1" dirty="0"/>
              <a:t>Hybrid retrieval = keyword + semantic</a:t>
            </a:r>
            <a:r>
              <a:rPr lang="en-US" dirty="0"/>
              <a:t>, fused for better relevance (RRF)</a:t>
            </a:r>
          </a:p>
          <a:p>
            <a:pPr fontAlgn="t"/>
            <a:endParaRPr lang="en-US" dirty="0"/>
          </a:p>
          <a:p>
            <a:pPr fontAlgn="t"/>
            <a:r>
              <a:rPr lang="en-US" b="1" dirty="0"/>
              <a:t>Structure-aware ingestion:</a:t>
            </a:r>
            <a:r>
              <a:rPr lang="en-US" dirty="0"/>
              <a:t> chunks align to </a:t>
            </a:r>
            <a:r>
              <a:rPr lang="en-US" b="1" dirty="0"/>
              <a:t>sections / headers / tables</a:t>
            </a:r>
            <a:r>
              <a:rPr lang="en-US" dirty="0"/>
              <a:t> (better for financial docs)</a:t>
            </a:r>
          </a:p>
          <a:p>
            <a:pPr fontAlgn="t"/>
            <a:endParaRPr lang="en-US" dirty="0"/>
          </a:p>
          <a:p>
            <a:pPr fontAlgn="t"/>
            <a:r>
              <a:rPr lang="en-US" b="1" dirty="0"/>
              <a:t>Full attribution by design:</a:t>
            </a:r>
            <a:r>
              <a:rPr lang="en-US" dirty="0"/>
              <a:t> every answer returns </a:t>
            </a:r>
            <a:r>
              <a:rPr lang="en-US" b="1" dirty="0"/>
              <a:t>document + page + section</a:t>
            </a:r>
            <a:r>
              <a:rPr lang="en-US" dirty="0"/>
              <a:t> sources</a:t>
            </a:r>
          </a:p>
          <a:p>
            <a:pPr fontAlgn="t"/>
            <a:endParaRPr lang="en-US" dirty="0"/>
          </a:p>
          <a:p>
            <a:pPr fontAlgn="t"/>
            <a:r>
              <a:rPr lang="en-US" b="1" dirty="0"/>
              <a:t>Multi-modal analysis:</a:t>
            </a:r>
            <a:r>
              <a:rPr lang="en-US" dirty="0"/>
              <a:t> handles </a:t>
            </a:r>
            <a:r>
              <a:rPr lang="en-US" b="1" dirty="0"/>
              <a:t>text + tables + chart images</a:t>
            </a:r>
            <a:r>
              <a:rPr lang="en-US" dirty="0"/>
              <a:t> in one workflow</a:t>
            </a:r>
          </a:p>
          <a:p>
            <a:pPr fontAlgn="t"/>
            <a:endParaRPr lang="en-US" dirty="0"/>
          </a:p>
          <a:p>
            <a:pPr fontAlgn="t"/>
            <a:r>
              <a:rPr lang="en-US" b="1" dirty="0"/>
              <a:t>Purpose-built financial tools:</a:t>
            </a:r>
            <a:r>
              <a:rPr lang="en-US" dirty="0"/>
              <a:t> deterministic </a:t>
            </a:r>
            <a:r>
              <a:rPr lang="en-US" b="1" dirty="0"/>
              <a:t>financial calculators</a:t>
            </a:r>
            <a:r>
              <a:rPr lang="en-US" dirty="0"/>
              <a:t>, not generic chat tools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ACA2A-6BBE-47CF-B76F-F56C9DBF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A095E-DB05-47EC-A2D5-47398A4A0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C3221-5F04-4CA7-A86A-EEA8566A1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54ABB-4929-4810-950B-2DAEA0A5B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/>
          <a:lstStyle/>
          <a:p>
            <a:r>
              <a:rPr lang="en-US" dirty="0"/>
              <a:t>KEY design CONSIDERATIONS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B78F7A0-88C5-4940-B21C-099F472F39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2186069-FC8E-433D-9BB4-942220CE8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AD5B6F4-0A90-447A-A1AE-D75C934B6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E0C1B66D-D423-E3C2-8A1A-0105764CA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3" y="2022130"/>
            <a:ext cx="10445541" cy="3810343"/>
          </a:xfrm>
        </p:spPr>
        <p:txBody>
          <a:bodyPr>
            <a:normAutofit/>
          </a:bodyPr>
          <a:lstStyle/>
          <a:p>
            <a:r>
              <a:rPr lang="en-US" b="1" dirty="0"/>
              <a:t>Azure AI Search vs. Local Vector Store </a:t>
            </a:r>
            <a:endParaRPr lang="en-US" dirty="0"/>
          </a:p>
          <a:p>
            <a:r>
              <a:rPr lang="en-US" b="1" dirty="0"/>
              <a:t>Hybrid Search Built-in</a:t>
            </a:r>
            <a:r>
              <a:rPr lang="en-US" dirty="0"/>
              <a:t>: Combines keyword (BM25) + semantic vectors in single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Production-Ready</a:t>
            </a:r>
            <a:r>
              <a:rPr lang="en-US" dirty="0"/>
              <a:t>: Handles millions of documents with automatic scaling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Reciprocal Rank Fusion (RRF)</a:t>
            </a:r>
            <a:r>
              <a:rPr lang="en-US" dirty="0"/>
              <a:t>: Native result merging for hybrid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 Infrastructure Management</a:t>
            </a:r>
            <a:r>
              <a:rPr lang="en-US" dirty="0"/>
              <a:t>: Fully managed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Security Features</a:t>
            </a:r>
            <a:r>
              <a:rPr lang="en-US" dirty="0"/>
              <a:t>: Built-in authentication, encryption, compliance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Trade-off: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Cost: ~$75-300/month vs free local vector stores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Cloud Dependency: Requires Azure connectivity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Worth it because</a:t>
            </a:r>
            <a:r>
              <a:rPr lang="en-US" dirty="0"/>
              <a:t>: Financial data needs production-grade reliability, security, and hybrid search quality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178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053B1-A2D6-142A-D922-AF62BA03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33764-86B1-F274-B9C5-ECA6AEB3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/>
          <a:lstStyle/>
          <a:p>
            <a:r>
              <a:rPr lang="en-US" dirty="0"/>
              <a:t>KEY CONSIDERATIONS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2529406-F6F6-063F-9A26-A9C4241529B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E72A6DA-D4C6-2E5B-910D-881A0E8A4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46858B4-594F-26DF-7695-1D813618D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85A8B7D-3A90-8636-78B4-FE930473B5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776548" y="2137084"/>
            <a:ext cx="9305979" cy="40547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Document Processing vs. Content Understanding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Control Over Chunking</a:t>
            </a:r>
            <a:r>
              <a:rPr lang="en-US" dirty="0"/>
              <a:t>: Structure-aware chunking preserves tables, sections, financial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Cost Efficiency</a:t>
            </a:r>
            <a:r>
              <a:rPr lang="en-US" dirty="0"/>
              <a:t>: One-time processing vs per-call API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Metadata Extraction</a:t>
            </a:r>
            <a:r>
              <a:rPr lang="en-US" dirty="0"/>
              <a:t>: Custom logic to extract document type, fiscal period, company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Flexibility</a:t>
            </a:r>
            <a:r>
              <a:rPr lang="en-US" dirty="0"/>
              <a:t>: Can add specialized parsers for 10-K forms, earnings reports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When Content Understanding API Makes Sense: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Complex layouts with tables/forms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Multi-language documents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Quick prototyping without custom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Reasoning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Financial reports have predictable structure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Custom chunking gives better retrieval results for financial queries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One-time indexing cost vs ongoing API costs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662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1E90E-9CB0-1629-C115-FF928C280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7854E-C924-968E-3370-D2F710B06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/>
          <a:lstStyle/>
          <a:p>
            <a:r>
              <a:rPr lang="en-US" dirty="0"/>
              <a:t>KEY CONSIDERATIONS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5406AD52-5007-9138-2DD2-E6B2E71D2C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8CF383-E54E-EEF9-3F45-EB1B81608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52DA1C8-76E1-454C-9F81-752CB2AB9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03FBAA08-A45F-9745-07EC-57E695CC985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274936" y="2027239"/>
            <a:ext cx="10523438" cy="3657716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Calculator Tool vs. Code Interpreter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Deterministic Results</a:t>
            </a:r>
            <a:r>
              <a:rPr lang="en-US" dirty="0"/>
              <a:t>: Financial calculations need exact precision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 Code Injection Risk</a:t>
            </a:r>
            <a:r>
              <a:rPr lang="en-US" dirty="0"/>
              <a:t>: Fixed formulas, no arbitrary code execution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10 Pre-built Metrics</a:t>
            </a:r>
            <a:r>
              <a:rPr lang="en-US" dirty="0"/>
              <a:t>: Profit margin, ROE, ROA, current ratio, debt-to-equity,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Explainability</a:t>
            </a:r>
            <a:r>
              <a:rPr lang="en-US" dirty="0"/>
              <a:t>: Shows exact formula used for each calculation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Reliable</a:t>
            </a:r>
            <a:r>
              <a:rPr lang="en-US" dirty="0"/>
              <a:t>: Always produces same output for same inputs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When Code Interpreter is Better: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Data Visualization</a:t>
            </a:r>
            <a:r>
              <a:rPr lang="en-US" dirty="0"/>
              <a:t>: Creating charts, graphs, trend analysis (CODE INTERPRETER EXCELS HERE)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Custom Analysis, Statistical Analysis, Data Manipulation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Reasoning: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Financial metrics = Calculator Tool (speed, safety, reliability)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Visualization needs = Could add Code Interpreter as optional tool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Best of both: Hybrid approach using both tools based on query type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816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E0A63-A388-49B1-A04E-27CE9BD62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0169" y="1152771"/>
            <a:ext cx="5431971" cy="846301"/>
          </a:xfrm>
        </p:spPr>
        <p:txBody>
          <a:bodyPr/>
          <a:lstStyle/>
          <a:p>
            <a:r>
              <a:rPr lang="en-US" dirty="0"/>
              <a:t>PRELIMINARY EVALUATIONS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0297407-CE4E-4284-879D-AEC39571362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87506" y="2241587"/>
            <a:ext cx="7466293" cy="3699400"/>
          </a:xfrm>
        </p:spPr>
        <p:txBody>
          <a:bodyPr>
            <a:normAutofit lnSpcReduction="10000"/>
          </a:bodyPr>
          <a:lstStyle/>
          <a:p>
            <a:pPr fontAlgn="t"/>
            <a:r>
              <a:rPr lang="en-US" dirty="0"/>
              <a:t>✅ </a:t>
            </a:r>
            <a:r>
              <a:rPr lang="en-US" b="1" dirty="0"/>
              <a:t>100% Success Rate</a:t>
            </a:r>
            <a:r>
              <a:rPr lang="en-US" dirty="0"/>
              <a:t> — </a:t>
            </a:r>
            <a:r>
              <a:rPr lang="en-US" b="1" dirty="0"/>
              <a:t>10/10</a:t>
            </a:r>
            <a:r>
              <a:rPr lang="en-US" dirty="0"/>
              <a:t> questions answered</a:t>
            </a:r>
          </a:p>
          <a:p>
            <a:pPr fontAlgn="t"/>
            <a:endParaRPr lang="en-US" dirty="0"/>
          </a:p>
          <a:p>
            <a:pPr fontAlgn="t"/>
            <a:r>
              <a:rPr lang="en-US" dirty="0"/>
              <a:t>✅ </a:t>
            </a:r>
            <a:r>
              <a:rPr lang="en-US" b="1" dirty="0"/>
              <a:t>72% Average Quality Score</a:t>
            </a:r>
          </a:p>
          <a:p>
            <a:pPr fontAlgn="t"/>
            <a:endParaRPr lang="en-US" dirty="0"/>
          </a:p>
          <a:p>
            <a:pPr fontAlgn="t"/>
            <a:r>
              <a:rPr lang="en-US" dirty="0"/>
              <a:t>✅ </a:t>
            </a:r>
            <a:r>
              <a:rPr lang="en-US" b="1" dirty="0"/>
              <a:t>90% Citation Rate</a:t>
            </a:r>
            <a:r>
              <a:rPr lang="en-US" dirty="0"/>
              <a:t> — </a:t>
            </a:r>
            <a:r>
              <a:rPr lang="en-US" b="1" dirty="0"/>
              <a:t>9/10</a:t>
            </a:r>
            <a:r>
              <a:rPr lang="en-US" dirty="0"/>
              <a:t> responses included sources</a:t>
            </a:r>
          </a:p>
          <a:p>
            <a:pPr fontAlgn="t"/>
            <a:endParaRPr lang="en-US" dirty="0"/>
          </a:p>
          <a:p>
            <a:pPr fontAlgn="t"/>
            <a:r>
              <a:rPr lang="en-US" dirty="0"/>
              <a:t>✅ </a:t>
            </a:r>
            <a:r>
              <a:rPr lang="en-US" b="1" dirty="0"/>
              <a:t>1.0/1.0 Citation Quality</a:t>
            </a:r>
            <a:r>
              <a:rPr lang="en-US" dirty="0"/>
              <a:t> — perfect source attribution</a:t>
            </a:r>
          </a:p>
          <a:p>
            <a:pPr fontAlgn="t"/>
            <a:endParaRPr lang="en-US" dirty="0"/>
          </a:p>
          <a:p>
            <a:pPr fontAlgn="t"/>
            <a:r>
              <a:rPr lang="en-US" dirty="0"/>
              <a:t>✅ </a:t>
            </a:r>
            <a:r>
              <a:rPr lang="en-US" b="1" dirty="0"/>
              <a:t>1.0/1.0 Response Completeness</a:t>
            </a:r>
          </a:p>
          <a:p>
            <a:pPr fontAlgn="t"/>
            <a:endParaRPr lang="en-US" b="1" dirty="0"/>
          </a:p>
          <a:p>
            <a:pPr fontAlgn="t"/>
            <a:r>
              <a:rPr lang="en-US" dirty="0"/>
              <a:t>✅ </a:t>
            </a:r>
            <a:r>
              <a:rPr lang="en-US" b="1" dirty="0"/>
              <a:t>87% Factual Retrieval Performance</a:t>
            </a:r>
            <a:endParaRPr lang="en-US" dirty="0"/>
          </a:p>
        </p:txBody>
      </p:sp>
      <p:sp>
        <p:nvSpPr>
          <p:cNvPr id="32" name="Date Placeholder 31">
            <a:extLst>
              <a:ext uri="{FF2B5EF4-FFF2-40B4-BE49-F238E27FC236}">
                <a16:creationId xmlns:a16="http://schemas.microsoft.com/office/drawing/2014/main" id="{D5DB19F8-B538-4965-BA90-ED372B99F5DC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5C44B1-BA82-483C-BD91-F89067442F9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D4A67-3A46-4F54-A12A-EAE1B53E645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393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DA7980-C870-4C9A-84FA-4120D8AF5D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FADE42-1A3F-40C8-A071-E57644F3D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56180624 Minimalist light sales pitch_Win32_v3" id="{10980D2D-A96C-4E9B-A00E-81C4CAF0ABBD}" vid="{7928933E-F394-4192-9CD9-6D2A259AB5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{F68530B5-6512-428D-BB2F-9B7774A7DA88}TF1ed81438-95a7-4ae9-841d-43ea2c64f7fc8ae7ff09_win32-aa52a5bb69e3</Template>
  <TotalTime>33</TotalTime>
  <Words>662</Words>
  <Application>Microsoft Office PowerPoint</Application>
  <PresentationFormat>Widescreen</PresentationFormat>
  <Paragraphs>118</Paragraphs>
  <Slides>11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Tenorite</vt:lpstr>
      <vt:lpstr>Monoline</vt:lpstr>
      <vt:lpstr>Financial Agent</vt:lpstr>
      <vt:lpstr>Problem statement</vt:lpstr>
      <vt:lpstr>PROBLEM</vt:lpstr>
      <vt:lpstr>SOLUTION</vt:lpstr>
      <vt:lpstr>architecture</vt:lpstr>
      <vt:lpstr>PRODUCT BENEFITS</vt:lpstr>
      <vt:lpstr>KEY design CONSIDERATIONS</vt:lpstr>
      <vt:lpstr>KEY CONSIDERATIONS</vt:lpstr>
      <vt:lpstr>KEY CONSIDERATIONS</vt:lpstr>
      <vt:lpstr>PRELIMINARY EVALUATIONS</vt:lpstr>
      <vt:lpstr>DEMO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Angela Kunanbaeva</dc:creator>
  <cp:lastModifiedBy>Angela Kunanbaeva</cp:lastModifiedBy>
  <cp:revision>3</cp:revision>
  <dcterms:created xsi:type="dcterms:W3CDTF">2026-02-12T23:24:59Z</dcterms:created>
  <dcterms:modified xsi:type="dcterms:W3CDTF">2026-02-12T23:59:48Z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