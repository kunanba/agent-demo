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7" r:id="rId6"/>
    <p:sldId id="261" r:id="rId7"/>
    <p:sldId id="262" r:id="rId8"/>
    <p:sldId id="289" r:id="rId9"/>
    <p:sldId id="264" r:id="rId10"/>
    <p:sldId id="266" r:id="rId11"/>
    <p:sldId id="295" r:id="rId12"/>
    <p:sldId id="296" r:id="rId13"/>
    <p:sldId id="278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71" d="100"/>
          <a:sy n="71" d="100"/>
        </p:scale>
        <p:origin x="488" y="2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/>
          <a:lstStyle/>
          <a:p>
            <a:r>
              <a:rPr lang="en-US" dirty="0"/>
              <a:t>Financial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/>
          <a:lstStyle/>
          <a:p>
            <a:r>
              <a:rPr lang="en-US" dirty="0"/>
              <a:t>Angela Kunanbaeva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4367214" cy="1325563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/>
          <a:p>
            <a:r>
              <a:rPr lang="en-US" dirty="0"/>
              <a:t>Financial analysts spend hours manually reviewing quarterly reports, annual filings, and financial statements to extract key metrics and insights. This is time-consuming, error-prone, and doesn't scale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F1ABC3-7124-1D2D-A429-3A25EDA05C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896099" y="1020445"/>
            <a:ext cx="4367214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solution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ED0BB9B-6530-CEC6-DCBC-2921C1181FC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581774" y="2924174"/>
            <a:ext cx="3171825" cy="2519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AI agent that can analyze financial documents, extract data from charts and tables, compute metrics, and answer questions with full source attribution.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Manual process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/>
          <a:lstStyle/>
          <a:p>
            <a:r>
              <a:rPr lang="en-US" dirty="0"/>
              <a:t>Errors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/>
          <a:lstStyle/>
          <a:p>
            <a:r>
              <a:rPr lang="en-US" dirty="0"/>
              <a:t>costs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/>
          <a:lstStyle/>
          <a:p>
            <a:r>
              <a:rPr lang="en-US" dirty="0"/>
              <a:t>Financial analysts spend hours manually reviewing quarterly reports, annual filings, and financial statements to extract key metrics and insights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/>
          <a:lstStyle/>
          <a:p>
            <a:r>
              <a:rPr lang="en-US" dirty="0"/>
              <a:t>Time-consuming, error-prone, and doesn't scale.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/>
          <a:lstStyle/>
          <a:p>
            <a:r>
              <a:rPr lang="en-US" dirty="0"/>
              <a:t>Time-consuming and loss of productivity results in thousands of dollars</a:t>
            </a:r>
          </a:p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563123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TECHNOLOGY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3070348"/>
            <a:ext cx="4031030" cy="1057308"/>
          </a:xfrm>
        </p:spPr>
        <p:txBody>
          <a:bodyPr/>
          <a:lstStyle/>
          <a:p>
            <a:r>
              <a:rPr lang="en-US" dirty="0"/>
              <a:t>An AI agent that can analyze financial documents, extract data from charts and tables, compute metrics, and answer questions with full source attribution.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3070348"/>
            <a:ext cx="4031030" cy="1057308"/>
          </a:xfrm>
        </p:spPr>
        <p:txBody>
          <a:bodyPr/>
          <a:lstStyle/>
          <a:p>
            <a:r>
              <a:rPr lang="en-US" dirty="0"/>
              <a:t>Reduction in time to find relevant information and insights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2630" y="4319431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EASY TO USE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143" y="4826656"/>
            <a:ext cx="4031030" cy="1057308"/>
          </a:xfrm>
        </p:spPr>
        <p:txBody>
          <a:bodyPr/>
          <a:lstStyle/>
          <a:p>
            <a:r>
              <a:rPr lang="en-US" dirty="0"/>
              <a:t>Simple design that gives customers the targeted information they need</a:t>
            </a:r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4B512C1-9DCD-5493-C3AC-D6FDA8666C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COST SAVINGS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2A50CEE-059F-6CB9-8EE9-20800512D685}"/>
              </a:ext>
            </a:extLst>
          </p:cNvPr>
          <p:cNvSpPr txBox="1">
            <a:spLocks/>
          </p:cNvSpPr>
          <p:nvPr/>
        </p:nvSpPr>
        <p:spPr>
          <a:xfrm>
            <a:off x="1484749" y="4234917"/>
            <a:ext cx="4031945" cy="36512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TARGET USERS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AD74E450-BAA6-94C8-88E2-DFCBC1EE5969}"/>
              </a:ext>
            </a:extLst>
          </p:cNvPr>
          <p:cNvSpPr txBox="1">
            <a:spLocks/>
          </p:cNvSpPr>
          <p:nvPr/>
        </p:nvSpPr>
        <p:spPr>
          <a:xfrm>
            <a:off x="1484513" y="4742142"/>
            <a:ext cx="4031030" cy="105730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Financial analysts</a:t>
            </a:r>
          </a:p>
          <a:p>
            <a:r>
              <a:rPr lang="en-US" dirty="0"/>
              <a:t>Investment researchers</a:t>
            </a:r>
          </a:p>
          <a:p>
            <a:r>
              <a:rPr lang="en-US" dirty="0"/>
              <a:t>CFO offices</a:t>
            </a:r>
          </a:p>
          <a:p>
            <a:r>
              <a:rPr lang="en-US" dirty="0"/>
              <a:t>Compliance teams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9E2AA90-938D-5269-071F-E9B9E7F6D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961" y="335710"/>
            <a:ext cx="7268589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/>
          <a:lstStyle/>
          <a:p>
            <a:r>
              <a:rPr lang="en-US" dirty="0"/>
              <a:t>PRODUCT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3203013"/>
            <a:ext cx="9991725" cy="32552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fontAlgn="t"/>
            <a:r>
              <a:rPr lang="en-US" b="1" dirty="0"/>
              <a:t>Hybrid retrieval = keyword + semantic</a:t>
            </a:r>
            <a:r>
              <a:rPr lang="en-US" dirty="0"/>
              <a:t>, fused for better relevance (RRF)</a:t>
            </a:r>
          </a:p>
          <a:p>
            <a:pPr fontAlgn="t"/>
            <a:endParaRPr lang="en-US" dirty="0"/>
          </a:p>
          <a:p>
            <a:pPr fontAlgn="t"/>
            <a:r>
              <a:rPr lang="en-US" b="1" dirty="0"/>
              <a:t>Structure-aware ingestion:</a:t>
            </a:r>
            <a:r>
              <a:rPr lang="en-US" dirty="0"/>
              <a:t> chunks align to </a:t>
            </a:r>
            <a:r>
              <a:rPr lang="en-US" b="1" dirty="0"/>
              <a:t>sections / headers / tables</a:t>
            </a:r>
            <a:r>
              <a:rPr lang="en-US" dirty="0"/>
              <a:t> (better for financial docs)</a:t>
            </a:r>
          </a:p>
          <a:p>
            <a:pPr fontAlgn="t"/>
            <a:endParaRPr lang="en-US" dirty="0"/>
          </a:p>
          <a:p>
            <a:pPr fontAlgn="t"/>
            <a:r>
              <a:rPr lang="en-US" b="1" dirty="0"/>
              <a:t>Full attribution by design:</a:t>
            </a:r>
            <a:r>
              <a:rPr lang="en-US" dirty="0"/>
              <a:t> every answer returns </a:t>
            </a:r>
            <a:r>
              <a:rPr lang="en-US" b="1" dirty="0"/>
              <a:t>document + page + section</a:t>
            </a:r>
            <a:r>
              <a:rPr lang="en-US" dirty="0"/>
              <a:t> sources</a:t>
            </a:r>
          </a:p>
          <a:p>
            <a:pPr fontAlgn="t"/>
            <a:endParaRPr lang="en-US" dirty="0"/>
          </a:p>
          <a:p>
            <a:pPr fontAlgn="t"/>
            <a:r>
              <a:rPr lang="en-US" b="1" dirty="0"/>
              <a:t>Multi-modal analysis:</a:t>
            </a:r>
            <a:r>
              <a:rPr lang="en-US" dirty="0"/>
              <a:t> handles </a:t>
            </a:r>
            <a:r>
              <a:rPr lang="en-US" b="1" dirty="0"/>
              <a:t>text + tables + chart images</a:t>
            </a:r>
            <a:r>
              <a:rPr lang="en-US" dirty="0"/>
              <a:t> in one workflow</a:t>
            </a:r>
          </a:p>
          <a:p>
            <a:pPr fontAlgn="t"/>
            <a:endParaRPr lang="en-US" dirty="0"/>
          </a:p>
          <a:p>
            <a:pPr fontAlgn="t"/>
            <a:r>
              <a:rPr lang="en-US" b="1" dirty="0"/>
              <a:t>Purpose-built financial tools:</a:t>
            </a:r>
            <a:r>
              <a:rPr lang="en-US" dirty="0"/>
              <a:t> deterministic </a:t>
            </a:r>
            <a:r>
              <a:rPr lang="en-US" b="1" dirty="0"/>
              <a:t>financial calculators</a:t>
            </a:r>
            <a:r>
              <a:rPr lang="en-US" dirty="0"/>
              <a:t>, not generic chat tools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KEY design CONSIDERATIONS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E0C1B66D-D423-E3C2-8A1A-0105764CA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3" y="2022130"/>
            <a:ext cx="10445541" cy="3810343"/>
          </a:xfrm>
        </p:spPr>
        <p:txBody>
          <a:bodyPr>
            <a:normAutofit/>
          </a:bodyPr>
          <a:lstStyle/>
          <a:p>
            <a:r>
              <a:rPr lang="en-US" b="1" dirty="0"/>
              <a:t>Azure AI Search vs. Local Vector Store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Hybrid Search Built-in</a:t>
            </a:r>
            <a:r>
              <a:rPr lang="en-US" dirty="0"/>
              <a:t>: Combines keyword (BM25) + semantic vectors in single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Production-Ready</a:t>
            </a:r>
            <a:r>
              <a:rPr lang="en-US" dirty="0"/>
              <a:t>: Handles millions of documents with automatic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Reciprocal Rank Fusion (RRF)</a:t>
            </a:r>
            <a:r>
              <a:rPr lang="en-US" dirty="0"/>
              <a:t>: Native result merging for hybrid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 Infrastructure Management</a:t>
            </a:r>
            <a:r>
              <a:rPr lang="en-US" dirty="0"/>
              <a:t>: Fully managed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Security Features</a:t>
            </a:r>
            <a:r>
              <a:rPr lang="en-US" dirty="0"/>
              <a:t>: Built-in authentication, encryption,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Trade-off: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Cost: ~$75-300/month vs free local vector stores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Cloud Dependency: Requires Azure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Worth it because</a:t>
            </a:r>
            <a:r>
              <a:rPr lang="en-US" dirty="0"/>
              <a:t>: Financial data needs production-grade reliability, security, and hybrid search quality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053B1-A2D6-142A-D922-AF62BA03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33764-86B1-F274-B9C5-ECA6AEB3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KEY CONSIDERATIONS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2529406-F6F6-063F-9A26-A9C42415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72A6DA-D4C6-2E5B-910D-881A0E8A4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46858B4-594F-26DF-7695-1D813618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85A8B7D-3A90-8636-78B4-FE930473B5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776548" y="2137084"/>
            <a:ext cx="9305979" cy="405471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Document Processing vs. Content Understanding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Control Over Chunking</a:t>
            </a:r>
            <a:r>
              <a:rPr lang="en-US" dirty="0"/>
              <a:t>: Structure-aware chunking preserves tables, sections, financial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Cost Efficiency</a:t>
            </a:r>
            <a:r>
              <a:rPr lang="en-US" dirty="0"/>
              <a:t>: One-time processing vs per-call API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Metadata Extraction</a:t>
            </a:r>
            <a:r>
              <a:rPr lang="en-US" dirty="0"/>
              <a:t>: Custom logic to extract document type, fiscal period, company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Flexibility</a:t>
            </a:r>
            <a:r>
              <a:rPr lang="en-US" dirty="0"/>
              <a:t>: Can add specialized parsers for 10-K forms, earnings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When Content Understanding API Makes Sense: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Complex layouts with tables/forms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Multi-language documents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Quick prototyping without custom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Reasoning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Financial reports have predictable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Custom chunking gives better retrieval results for financial queries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One-time indexing cost vs ongoing API costs at scale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662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1E90E-9CB0-1629-C115-FF928C280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7854E-C924-968E-3370-D2F710B06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KEY CONSIDERATIONS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06AD52-5007-9138-2DD2-E6B2E71D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8CF383-E54E-EEF9-3F45-EB1B81608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52DA1C8-76E1-454C-9F81-752CB2AB9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03FBAA08-A45F-9745-07EC-57E695CC985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274936" y="2027239"/>
            <a:ext cx="10523438" cy="365771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Calculator Tool vs. Code Interpreter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Deterministic Results</a:t>
            </a:r>
            <a:r>
              <a:rPr lang="en-US" dirty="0"/>
              <a:t>: Financial calculations need exact 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 Code Injection Risk</a:t>
            </a:r>
            <a:r>
              <a:rPr lang="en-US" dirty="0"/>
              <a:t>: Fixed formulas, no arbitrary code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10 Pre-built Metrics</a:t>
            </a:r>
            <a:r>
              <a:rPr lang="en-US" dirty="0"/>
              <a:t>: Profit margin, ROE, ROA, current ratio, debt-to-equity,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Explainability</a:t>
            </a:r>
            <a:r>
              <a:rPr lang="en-US" dirty="0"/>
              <a:t>: Shows exact formula used for each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Reliable</a:t>
            </a:r>
            <a:r>
              <a:rPr lang="en-US" dirty="0"/>
              <a:t>: Always produces same output for same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When Code Interpreter is Better: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Data Visualization</a:t>
            </a:r>
            <a:r>
              <a:rPr lang="en-US" dirty="0"/>
              <a:t>: Creating charts, graphs, trend analysis (CODE INTERPRETER EXCELS HERE)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Custom Analysis, Statistical Analysis, Data Manipulation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Reasoning: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Financial metrics = Calculator Tool (speed, safety, reliability)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Visualization needs = Could add Code Interpreter as optional tool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Best of both: Hybrid approach using both tools based on query 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816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/>
          <a:lstStyle/>
          <a:p>
            <a:r>
              <a:rPr lang="en-US" dirty="0"/>
              <a:t>PRELIMINARY EVALUATIONS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7506" y="2241587"/>
            <a:ext cx="7466293" cy="3699400"/>
          </a:xfrm>
        </p:spPr>
        <p:txBody>
          <a:bodyPr>
            <a:normAutofit lnSpcReduction="10000"/>
          </a:bodyPr>
          <a:lstStyle/>
          <a:p>
            <a:pPr fontAlgn="t"/>
            <a:r>
              <a:rPr lang="en-US" dirty="0"/>
              <a:t>✅ </a:t>
            </a:r>
            <a:r>
              <a:rPr lang="en-US" b="1" dirty="0"/>
              <a:t>100% Success Rate</a:t>
            </a:r>
            <a:r>
              <a:rPr lang="en-US" dirty="0"/>
              <a:t> — </a:t>
            </a:r>
            <a:r>
              <a:rPr lang="en-US" b="1" dirty="0"/>
              <a:t>10/10</a:t>
            </a:r>
            <a:r>
              <a:rPr lang="en-US" dirty="0"/>
              <a:t> questions answered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✅ </a:t>
            </a:r>
            <a:r>
              <a:rPr lang="en-US" b="1" dirty="0"/>
              <a:t>72% Average Quality Score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✅ </a:t>
            </a:r>
            <a:r>
              <a:rPr lang="en-US" b="1" dirty="0"/>
              <a:t>90% Citation Rate</a:t>
            </a:r>
            <a:r>
              <a:rPr lang="en-US" dirty="0"/>
              <a:t> — </a:t>
            </a:r>
            <a:r>
              <a:rPr lang="en-US" b="1" dirty="0"/>
              <a:t>9/10</a:t>
            </a:r>
            <a:r>
              <a:rPr lang="en-US" dirty="0"/>
              <a:t> responses included sources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✅ </a:t>
            </a:r>
            <a:r>
              <a:rPr lang="en-US" b="1" dirty="0"/>
              <a:t>1.0/1.0 Citation Quality</a:t>
            </a:r>
            <a:r>
              <a:rPr lang="en-US" dirty="0"/>
              <a:t> — perfect source attribution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✅ </a:t>
            </a:r>
            <a:r>
              <a:rPr lang="en-US" b="1" dirty="0"/>
              <a:t>1.0/1.0 Response Completeness</a:t>
            </a:r>
          </a:p>
          <a:p>
            <a:pPr fontAlgn="t"/>
            <a:endParaRPr lang="en-US" b="1" dirty="0"/>
          </a:p>
          <a:p>
            <a:pPr fontAlgn="t"/>
            <a:r>
              <a:rPr lang="en-US" dirty="0"/>
              <a:t>✅ </a:t>
            </a:r>
            <a:r>
              <a:rPr lang="en-US" b="1" dirty="0"/>
              <a:t>87% Factual Retrieval Performance</a:t>
            </a:r>
            <a:endParaRPr lang="en-US" dirty="0"/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{F68530B5-6512-428D-BB2F-9B7774A7DA88}TF1ed81438-95a7-4ae9-841d-43ea2c64f7fc8ae7ff09_win32-aa52a5bb69e3</Template>
  <TotalTime>34</TotalTime>
  <Words>662</Words>
  <Application>Microsoft Office PowerPoint</Application>
  <PresentationFormat>Widescreen</PresentationFormat>
  <Paragraphs>118</Paragraphs>
  <Slides>11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Monoline</vt:lpstr>
      <vt:lpstr>Financial Agent</vt:lpstr>
      <vt:lpstr>Problem statement</vt:lpstr>
      <vt:lpstr>PROBLEM</vt:lpstr>
      <vt:lpstr>SOLUTION</vt:lpstr>
      <vt:lpstr>architecture</vt:lpstr>
      <vt:lpstr>PRODUCT BENEFITS</vt:lpstr>
      <vt:lpstr>KEY design CONSIDERATIONS</vt:lpstr>
      <vt:lpstr>KEY CONSIDERATIONS</vt:lpstr>
      <vt:lpstr>KEY CONSIDERATIONS</vt:lpstr>
      <vt:lpstr>PRELIMINARY EVALUATIONS</vt:lpstr>
      <vt:lpstr>DEMO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Angela Kunanbaeva</dc:creator>
  <cp:lastModifiedBy>Angela Kunanbaeva</cp:lastModifiedBy>
  <cp:revision>4</cp:revision>
  <dcterms:created xsi:type="dcterms:W3CDTF">2026-02-12T23:24:59Z</dcterms:created>
  <dcterms:modified xsi:type="dcterms:W3CDTF">2026-02-13T00:08:44Z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